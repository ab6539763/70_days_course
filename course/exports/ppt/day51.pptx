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Day 51: 模型微调理论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零基础大模型应用开发 70 天培训课程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封面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Day 51: 模型微调理论</a:t>
            </a:r>
          </a:p>
          <a:p>
            <a:pPr>
              <a:defRPr sz="1400"/>
            </a:pPr>
            <a:r>
              <a:t>零基础大模型应用开发 70 天培训课程  第 51/70 天  模型微调与部署</a:t>
            </a:r>
          </a:p>
          <a:p>
            <a:pPr>
              <a:defRPr sz="1400"/>
            </a:pPr>
            <a:r>
              <a:t>——————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本周学习路线图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第 9 周: 微调与部署</a:t>
            </a:r>
          </a:p>
          <a:p>
            <a:pPr>
              <a:defRPr sz="1400"/>
            </a:pPr>
            <a:r>
              <a:t>微调理论 → 数据集 → LLaMA-Factory → 部署 → Docker</a:t>
            </a:r>
          </a:p>
          <a:p>
            <a:pPr>
              <a:defRPr sz="1400"/>
            </a:pPr>
            <a:r>
              <a:t>↓</a:t>
            </a:r>
          </a:p>
          <a:p>
            <a:pPr>
              <a:defRPr sz="1400"/>
            </a:pPr>
            <a:r>
              <a:t>周末项目: 容器化部署</a:t>
            </a:r>
          </a:p>
          <a:p>
            <a:pPr>
              <a:defRPr sz="1400"/>
            </a:pPr>
            <a:r>
              <a:t>本周每一天环环相扣，请按顺序学习，不要跳天。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深度讲义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51.1 微调决策树</a:t>
            </a:r>
          </a:p>
          <a:p>
            <a:pPr>
              <a:defRPr sz="1400"/>
            </a:pPr>
            <a:r>
              <a:t>需要改变模型行为/风格/格式？</a:t>
            </a:r>
          </a:p>
          <a:p>
            <a:pPr>
              <a:defRPr sz="1400"/>
            </a:pPr>
            <a:r>
              <a:t>├── 是 → 有足够标注数据(500条)？</a:t>
            </a:r>
          </a:p>
          <a:p>
            <a:pPr>
              <a:defRPr sz="1400"/>
            </a:pPr>
            <a:r>
              <a:t>│   ├── 是 → 有 GPU 资源？</a:t>
            </a:r>
          </a:p>
          <a:p>
            <a:pPr>
              <a:defRPr sz="1400"/>
            </a:pPr>
            <a:r>
              <a:t>│   │   ├── 是 → 微调 (LoRA)</a:t>
            </a:r>
          </a:p>
          <a:p>
            <a:pPr>
              <a:defRPr sz="1400"/>
            </a:pPr>
            <a:r>
              <a:t>│   │   └── 否 → Prompt 工程 + Few-shot</a:t>
            </a:r>
          </a:p>
          <a:p>
            <a:pPr>
              <a:defRPr sz="1400"/>
            </a:pPr>
            <a:r>
              <a:t>│   └── 否 → 用 LLM 生成数据 → 微调</a:t>
            </a:r>
          </a:p>
          <a:p>
            <a:pPr>
              <a:defRPr sz="1400"/>
            </a:pPr>
            <a:r>
              <a:t>└── 否 → 需要外部知识？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常见错误与避坑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⚠️ 只看不练 — 必须动手敲代码</a:t>
            </a:r>
          </a:p>
          <a:p>
            <a:pPr>
              <a:defRPr sz="1400"/>
            </a:pPr>
            <a:r>
              <a:t>- ⚠️ 跳过基础直接调 API — 每天知识环环相扣</a:t>
            </a:r>
          </a:p>
          <a:p>
            <a:pPr>
              <a:defRPr sz="1400"/>
            </a:pPr>
            <a:r>
              <a:t>- ⚠️ 不写注释 — 企业级代码必须可读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课堂练习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📝 复习 Day 50 的核心知识点</a:t>
            </a:r>
          </a:p>
          <a:p>
            <a:pPr>
              <a:defRPr sz="1400"/>
            </a:pPr>
            <a:r>
              <a:t>- 📝 完成今日实操项目并提交 Git</a:t>
            </a:r>
          </a:p>
          <a:p>
            <a:pPr>
              <a:defRPr sz="1400"/>
            </a:pPr>
            <a:r>
              <a:t>- 📝 用 3 句话总结今天学到了什么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一、今日学习目标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完成今天的学习后，你将能够:</a:t>
            </a:r>
          </a:p>
          <a:p>
            <a:pPr>
              <a:defRPr sz="1400"/>
            </a:pPr>
            <a:r>
              <a:t>- 什么时候需要微调 vs RAG vs Prompt(决策树)</a:t>
            </a:r>
          </a:p>
          <a:p>
            <a:pPr>
              <a:defRPr sz="1400"/>
            </a:pPr>
            <a:r>
              <a:t>- 全量微调、LoRA、QLoRA 原理通俗讲解</a:t>
            </a:r>
          </a:p>
          <a:p>
            <a:pPr>
              <a:defRPr sz="1400"/>
            </a:pPr>
            <a:r>
              <a:t>- GPU 基础知识、显存估算、AutoDL/魔搭等算力平台租用实操</a:t>
            </a:r>
          </a:p>
          <a:p>
            <a:pPr>
              <a:defRPr sz="1400"/>
            </a:pPr>
            <a:r>
              <a:t>核心技能点</a:t>
            </a:r>
          </a:p>
          <a:p>
            <a:pPr>
              <a:defRPr sz="1400"/>
            </a:pPr>
            <a:r>
              <a:t>- 微调理论</a:t>
            </a:r>
          </a:p>
          <a:p>
            <a:pPr>
              <a:defRPr sz="1400"/>
            </a:pPr>
            <a:r>
              <a:t>- LoRA</a:t>
            </a:r>
          </a:p>
          <a:p>
            <a:pPr>
              <a:defRPr sz="1400"/>
            </a:pPr>
            <a:r>
              <a:t>- GPU 算力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二、理论精讲（纳米级拆解）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2.1 什么时候需要微调 vs RAG vs Prompt(决策树)</a:t>
            </a:r>
          </a:p>
          <a:p>
            <a:pPr>
              <a:defRPr sz="1400"/>
            </a:pPr>
            <a:r>
              <a:t>Prompt 设计四要素</a:t>
            </a:r>
          </a:p>
          <a:p>
            <a:pPr>
              <a:defRPr sz="1400"/>
            </a:pPr>
            <a:r>
              <a:t>要素  说明  示例</a:t>
            </a:r>
          </a:p>
          <a:p>
            <a:pPr>
              <a:defRPr sz="1400"/>
            </a:pPr>
            <a:r>
              <a:t>指令  告诉模型做什么  "请将以下文本翻译成英文"</a:t>
            </a:r>
          </a:p>
          <a:p>
            <a:pPr>
              <a:defRPr sz="1400"/>
            </a:pPr>
            <a:r>
              <a:t>上下文  背景信息  "这是一份医疗科普文章"</a:t>
            </a:r>
          </a:p>
          <a:p>
            <a:pPr>
              <a:defRPr sz="1400"/>
            </a:pPr>
            <a:r>
              <a:t>输入  待处理内容  用户提供的原文</a:t>
            </a:r>
          </a:p>
          <a:p>
            <a:pPr>
              <a:defRPr sz="1400"/>
            </a:pPr>
            <a:r>
              <a:t>输出格式  约束返回形式  "请以 JSON 格式返回"</a:t>
            </a:r>
          </a:p>
          <a:p>
            <a:pPr>
              <a:defRPr sz="1400"/>
            </a:pPr>
            <a:r>
              <a:t>Zero-shot vs Few-shot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三、下午实操预告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今日下午核心项目: GPU 环境搭建</a:t>
            </a:r>
          </a:p>
          <a:p>
            <a:pPr>
              <a:defRPr sz="1400"/>
            </a:pPr>
            <a:r>
              <a:t>- 租一台 GPU 服务器并配好环境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下午实操：项目实战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项目名称</a:t>
            </a:r>
          </a:p>
          <a:p>
            <a:pPr>
              <a:defRPr sz="1400"/>
            </a:pPr>
            <a:r>
              <a:t>GPU 环境搭建</a:t>
            </a:r>
          </a:p>
          <a:p>
            <a:pPr>
              <a:defRPr sz="1400"/>
            </a:pPr>
            <a:r>
              <a:t>推荐项目目录结构（企业级标准）</a:t>
            </a:r>
          </a:p>
          <a:p>
            <a:pPr>
              <a:defRPr sz="1400"/>
            </a:pPr>
            <a:r>
              <a:t>text</a:t>
            </a:r>
          </a:p>
          <a:p>
            <a:pPr>
              <a:defRPr sz="1400"/>
            </a:pPr>
            <a:r>
              <a:t>day51_project/</a:t>
            </a:r>
          </a:p>
          <a:p>
            <a:pPr>
              <a:defRPr sz="1400"/>
            </a:pPr>
            <a:r>
              <a:t>├─ src/</a:t>
            </a:r>
          </a:p>
          <a:p>
            <a:pPr>
              <a:defRPr sz="1400"/>
            </a:pPr>
            <a:r>
              <a:t>│  ├─ __init__.py</a:t>
            </a:r>
          </a:p>
          <a:p>
            <a:pPr>
              <a:defRPr sz="1400"/>
            </a:pPr>
            <a:r>
              <a:t>│  └─ main.py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知识小测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Q1. 请用自己的话解释「微调理论」是什么，并举一个与大模型开发相关的例子。</a:t>
            </a:r>
          </a:p>
          <a:p>
            <a:pPr>
              <a:defRPr sz="1400"/>
            </a:pPr>
            <a:r>
              <a:t>&lt;details</a:t>
            </a:r>
          </a:p>
          <a:p>
            <a:pPr>
              <a:defRPr sz="1400"/>
            </a:pPr>
            <a:r>
              <a:t>&lt;summary参考答案思路&lt;/summary</a:t>
            </a:r>
          </a:p>
          <a:p>
            <a:pPr>
              <a:defRPr sz="1400"/>
            </a:pPr>
            <a:r>
              <a:t>- 定义: （学员填写）</a:t>
            </a:r>
          </a:p>
          <a:p>
            <a:pPr>
              <a:defRPr sz="1400"/>
            </a:pPr>
            <a:r>
              <a:t>- 例子: （结合 Day 48-51 所学填写）</a:t>
            </a:r>
          </a:p>
          <a:p>
            <a:pPr>
              <a:defRPr sz="1400"/>
            </a:pPr>
            <a:r>
              <a:t>- 后续应用: 将在 Day 58 左右用到</a:t>
            </a:r>
          </a:p>
          <a:p>
            <a:pPr>
              <a:defRPr sz="1400"/>
            </a:pPr>
            <a:r>
              <a:t>&lt;/details</a:t>
            </a:r>
          </a:p>
          <a:p>
            <a:pPr>
              <a:defRPr sz="1400"/>
            </a:pPr>
            <a:r>
              <a:t>Q2. 请用自己的话解释「LoRA」是什么，并举一个与大模型开发相关的例子。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课后作业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必做</a:t>
            </a:r>
          </a:p>
          <a:p>
            <a:pPr>
              <a:defRPr sz="1400"/>
            </a:pPr>
            <a:r>
              <a:t>1. 完成今日实操项目「GPU 环境搭建」</a:t>
            </a:r>
          </a:p>
          <a:p>
            <a:pPr>
              <a:defRPr sz="1400"/>
            </a:pPr>
            <a:r>
              <a:t>2. 提交代码到 GitHub（commit message: Day 51: GPU 环境搭建）</a:t>
            </a:r>
          </a:p>
          <a:p>
            <a:pPr>
              <a:defRPr sz="1400"/>
            </a:pPr>
            <a:r>
              <a:t>3. 在学习笔记中记录 3 个今天学到的新知识点</a:t>
            </a:r>
          </a:p>
          <a:p>
            <a:pPr>
              <a:defRPr sz="1400"/>
            </a:pPr>
            <a:r>
              <a:t>晚自习</a:t>
            </a:r>
          </a:p>
          <a:p>
            <a:pPr>
              <a:defRPr sz="1400"/>
            </a:pPr>
            <a:r>
              <a:t>- 绘制微调 vs RAG vs Prompt 决策树</a:t>
            </a:r>
          </a:p>
          <a:p>
            <a:pPr>
              <a:defRPr sz="1400"/>
            </a:pPr>
            <a:r>
              <a:t>选做</a:t>
            </a:r>
          </a:p>
          <a:p>
            <a:pPr>
              <a:defRPr sz="1400"/>
            </a:pPr>
            <a:r>
              <a:t>1. 阅读官方文档中与今日主题相关的章节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