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41: LangGraph 入门（重点！）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41: LangGraph 入门（重点！）</a:t>
            </a:r>
          </a:p>
          <a:p>
            <a:pPr>
              <a:defRPr sz="1400"/>
            </a:pPr>
            <a:r>
              <a:t>零基础大模型应用开发 70 天培训课程  第 41/70 天  Agent 智能体开发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41.1 为什么需要 LangGraph？</a:t>
            </a:r>
          </a:p>
          <a:p>
            <a:pPr>
              <a:defRPr sz="1400"/>
            </a:pPr>
            <a:r>
              <a:t>LangChain Agent 的局限:</a:t>
            </a:r>
          </a:p>
          <a:p>
            <a:pPr>
              <a:defRPr sz="1400"/>
            </a:pPr>
            <a:r>
              <a:t>- 流程不透明（黑盒）</a:t>
            </a:r>
          </a:p>
          <a:p>
            <a:pPr>
              <a:defRPr sz="1400"/>
            </a:pPr>
            <a:r>
              <a:t>- 难以实现循环和条件分支</a:t>
            </a:r>
          </a:p>
          <a:p>
            <a:pPr>
              <a:defRPr sz="1400"/>
            </a:pPr>
            <a:r>
              <a:t>- 不支持中断和恢复</a:t>
            </a:r>
          </a:p>
          <a:p>
            <a:pPr>
              <a:defRPr sz="1400"/>
            </a:pPr>
            <a:r>
              <a:t>- 多 Agent 协作困难</a:t>
            </a:r>
          </a:p>
          <a:p>
            <a:pPr>
              <a:defRPr sz="1400"/>
            </a:pPr>
            <a:r>
              <a:t>LangGraph 用图结构解决这些问题:</a:t>
            </a:r>
          </a:p>
          <a:p>
            <a:pPr>
              <a:defRPr sz="1400"/>
            </a:pPr>
            <a:r>
              <a:t>┌─────────┐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40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为什么需要 LangGraph: 状态机、图结构编排</a:t>
            </a:r>
          </a:p>
          <a:p>
            <a:pPr>
              <a:defRPr sz="1400"/>
            </a:pPr>
            <a:r>
              <a:t>- State、Node、Edge、条件边、循环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LangGraph</a:t>
            </a:r>
          </a:p>
          <a:p>
            <a:pPr>
              <a:defRPr sz="1400"/>
            </a:pPr>
            <a:r>
              <a:t>- State</a:t>
            </a:r>
          </a:p>
          <a:p>
            <a:pPr>
              <a:defRPr sz="1400"/>
            </a:pPr>
            <a:r>
              <a:t>- Node</a:t>
            </a:r>
          </a:p>
          <a:p>
            <a:pPr>
              <a:defRPr sz="1400"/>
            </a:pPr>
            <a:r>
              <a:t>- Edge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为什么需要 LangGraph: 状态机、图结构编排</a:t>
            </a:r>
          </a:p>
          <a:p>
            <a:pPr>
              <a:defRPr sz="1400"/>
            </a:pPr>
            <a:r>
              <a:t>Agent vs Chain</a:t>
            </a:r>
          </a:p>
          <a:p>
            <a:pPr>
              <a:defRPr sz="1400"/>
            </a:pPr>
            <a:r>
              <a:t>Chain  Agent</a:t>
            </a:r>
          </a:p>
          <a:p>
            <a:pPr>
              <a:defRPr sz="1400"/>
            </a:pPr>
            <a:r>
              <a:t>执行方式  固定步骤  自主决策</a:t>
            </a:r>
          </a:p>
          <a:p>
            <a:pPr>
              <a:defRPr sz="1400"/>
            </a:pPr>
            <a:r>
              <a:t>灵活性  低  高</a:t>
            </a:r>
          </a:p>
          <a:p>
            <a:pPr>
              <a:defRPr sz="1400"/>
            </a:pPr>
            <a:r>
              <a:t>适用场景  翻译、摘要  复杂任务、多步推理</a:t>
            </a:r>
          </a:p>
          <a:p>
            <a:pPr>
              <a:defRPr sz="1400"/>
            </a:pPr>
            <a:r>
              <a:t>ReAct 循环</a:t>
            </a:r>
          </a:p>
          <a:p>
            <a:pPr>
              <a:defRPr sz="1400"/>
            </a:pPr>
            <a:r>
              <a:t>Thought（思考）→ Action（行动）→ Observation（观察）→ Thought → 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LangGraph ReAct + 人工审批</a:t>
            </a:r>
          </a:p>
          <a:p>
            <a:pPr>
              <a:defRPr sz="1400"/>
            </a:pPr>
            <a:r>
              <a:t>- 用 LangGraph 重写 ReAct Agent、可视化图结构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LangGraph ReAct + 人工审批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day41_project/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请用自己的话解释「LangGraph」是什么，并举一个与大模型开发相关的例子。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38-41 所学填写）</a:t>
            </a:r>
          </a:p>
          <a:p>
            <a:pPr>
              <a:defRPr sz="1400"/>
            </a:pPr>
            <a:r>
              <a:t>- 后续应用: 将在 Day 48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请用自己的话解释「State」是什么，并举一个与大模型开发相关的例子。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完成今日实操项目「LangGraph ReAct + 人工审批」</a:t>
            </a:r>
          </a:p>
          <a:p>
            <a:pPr>
              <a:defRPr sz="1400"/>
            </a:pPr>
            <a:r>
              <a:t>2. 提交代码到 GitHub（commit message: Day 41: LangGraph ReAct + 人工审批）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构建一个带人工审批节点的工作流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