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30: 完整 RAG 系统搭建（核心日！）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30: 完整 RAG 系统搭建（核心日！）</a:t>
            </a:r>
          </a:p>
          <a:p>
            <a:pPr>
              <a:defRPr sz="1400"/>
            </a:pPr>
            <a:r>
              <a:t>零基础大模型应用开发 70 天培训课程  第 30/70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30.1 RAG 完整链路图</a:t>
            </a:r>
          </a:p>
          <a:p>
            <a:pPr>
              <a:defRPr sz="1400"/>
            </a:pPr>
            <a:r>
              <a:t>┌──────────┐    ┌──────────┐    ┌──────────┐</a:t>
            </a:r>
          </a:p>
          <a:p>
            <a:pPr>
              <a:defRPr sz="1400"/>
            </a:pPr>
            <a:r>
              <a:t>│ 原始文档  │ →  │ 文本分割  │ →  │ 向量化    │</a:t>
            </a:r>
          </a:p>
          <a:p>
            <a:pPr>
              <a:defRPr sz="1400"/>
            </a:pPr>
            <a:r>
              <a:t>│ PDF/Word │    │ chunk    │    │ Embedding│</a:t>
            </a:r>
          </a:p>
          <a:p>
            <a:pPr>
              <a:defRPr sz="1400"/>
            </a:pPr>
            <a:r>
              <a:t>└──────────┘    └──────────┘    └────┬─────┘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┌──────────┐    ┌──────────┐    ┌──────────┐</a:t>
            </a:r>
          </a:p>
          <a:p>
            <a:pPr>
              <a:defRPr sz="1400"/>
            </a:pPr>
            <a:r>
              <a:t>│ 生成回答  │ ←  │ LLM生成  │ ←  │ 向量检索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day30_rag_qa.py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30: 企业知识库问答系统（命令行版 RAG）"""</a:t>
            </a:r>
          </a:p>
          <a:p>
            <a:pPr>
              <a:defRPr sz="1400"/>
            </a:pPr>
            <a:r>
              <a:t>import os</a:t>
            </a:r>
          </a:p>
          <a:p>
            <a:pPr>
              <a:defRPr sz="1400"/>
            </a:pPr>
            <a:r>
              <a:t>from dotenv import load_dotenv</a:t>
            </a:r>
          </a:p>
          <a:p>
            <a:pPr>
              <a:defRPr sz="1400"/>
            </a:pPr>
            <a:r>
              <a:t>from langchain_openai import ChatOpenAI, OpenAIEmbeddings</a:t>
            </a:r>
          </a:p>
          <a:p>
            <a:pPr>
              <a:defRPr sz="1400"/>
            </a:pPr>
            <a:r>
              <a:t>from langchain_community.vectorstores import Chroma</a:t>
            </a:r>
          </a:p>
          <a:p>
            <a:pPr>
              <a:defRPr sz="1400"/>
            </a:pPr>
            <a:r>
              <a:t>from langchain.text_splitter import RecursiveCharacterTextSplitter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RAG 完整链路: 加载 → 分割 → 向量化 → 存储 → 检索 → 增强生成</a:t>
            </a:r>
          </a:p>
          <a:p>
            <a:pPr>
              <a:defRPr sz="1400"/>
            </a:pPr>
            <a:r>
              <a:t>- RAG Prompt 模板设计、引用来源标注、'我不知道'的兜底处理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RAG 全链路</a:t>
            </a:r>
          </a:p>
          <a:p>
            <a:pPr>
              <a:defRPr sz="1400"/>
            </a:pPr>
            <a:r>
              <a:t>- 引用溯源</a:t>
            </a:r>
          </a:p>
          <a:p>
            <a:pPr>
              <a:defRPr sz="1400"/>
            </a:pPr>
            <a:r>
              <a:t>- 兜底策略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RAG 完整链路: 加载 → 分割 → 向量化 → 存储 → 检索 → 增强生成</a:t>
            </a:r>
          </a:p>
          <a:p>
            <a:pPr>
              <a:defRPr sz="1400"/>
            </a:pPr>
            <a:r>
              <a:t>RAG 完整链路</a:t>
            </a:r>
          </a:p>
          <a:p>
            <a:pPr>
              <a:defRPr sz="1400"/>
            </a:pPr>
            <a:r>
              <a:t>文档 → 加载 → 分割 → 向量化 → 存储 → 检索 → 增强生成 → 回答</a:t>
            </a:r>
          </a:p>
          <a:p>
            <a:pPr>
              <a:defRPr sz="1400"/>
            </a:pPr>
            <a:r>
              <a:t>核心公式（通俗版）</a:t>
            </a:r>
          </a:p>
          <a:p>
            <a:pPr>
              <a:defRPr sz="1400"/>
            </a:pPr>
            <a:r>
              <a:t>用户问题 → 转成向量 → 在知识库中找最相似的文本块 → 塞进 Prompt → 大模型生成回答</a:t>
            </a:r>
          </a:p>
          <a:p>
            <a:pPr>
              <a:defRPr sz="1400"/>
            </a:pPr>
            <a:r>
              <a:t>关键参数</a:t>
            </a:r>
          </a:p>
          <a:p>
            <a:pPr>
              <a:defRPr sz="1400"/>
            </a:pPr>
            <a:r>
              <a:t>参数  作用  调优建议</a:t>
            </a:r>
          </a:p>
          <a:p>
            <a:pPr>
              <a:defRPr sz="1400"/>
            </a:pPr>
            <a:r>
              <a:t>chunk_size  每个文本块大小  300-1000 字符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企业知识库问答系统（命令行版）</a:t>
            </a:r>
          </a:p>
          <a:p>
            <a:pPr>
              <a:defRPr sz="1400"/>
            </a:pPr>
            <a:r>
              <a:t>- 搭建一个完整的企业知识库问答系统（命令行版）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企业知识库问答系统（命令行版）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请用自己的话解释「RAG 全链路」是什么，并举一个与大模型开发相关的例子。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27-30 所学填写）</a:t>
            </a:r>
          </a:p>
          <a:p>
            <a:pPr>
              <a:defRPr sz="1400"/>
            </a:pPr>
            <a:r>
              <a:t>- 后续应用: 将在 Day 37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请用自己的话解释「引用溯源」是什么，并举一个与大模型开发相关的例子。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完成今日实操项目「企业知识库问答系统（命令行版）」</a:t>
            </a:r>
          </a:p>
          <a:p>
            <a:pPr>
              <a:defRPr sz="1400"/>
            </a:pPr>
            <a:r>
              <a:t>2. 提交代码到 GitHub（commit message: Day 30: 企业知识库问答系统（命令行版））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测试 10 个问题并记录回答质量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